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54864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1616"/>
                </a:solidFill>
              </a:defRPr>
            </a:pPr>
            <a:r>
              <a:rPr dirty="0"/>
              <a:t>Detailed Section-wise Chunking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566928"/>
            <a:ext cx="2743200" cy="553212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420624"/>
            <a:ext cx="26334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1616"/>
                </a:solidFill>
              </a:defRPr>
            </a:pPr>
            <a:r>
              <a:t>Text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566928"/>
            <a:ext cx="5212080" cy="553212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00984" y="420624"/>
            <a:ext cx="5102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1616"/>
                </a:solidFill>
              </a:defRPr>
            </a:pPr>
            <a:r>
              <a:t>Per-Section Chunk Builder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566928"/>
            <a:ext cx="3154680" cy="553212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95944" y="420624"/>
            <a:ext cx="30449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1616"/>
                </a:solidFill>
              </a:defRPr>
            </a:pPr>
            <a:r>
              <a:t>Post-process +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914400"/>
            <a:ext cx="4572000" cy="548640"/>
          </a:xfrm>
          <a:prstGeom prst="rect">
            <a:avLst/>
          </a:prstGeom>
          <a:solidFill>
            <a:srgbClr val="F0DFCA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8253" y="1786163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Split section into paragraphs (\n\n), drop paragraphs &lt; 3 words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664208"/>
            <a:ext cx="4572000" cy="548640"/>
          </a:xfrm>
          <a:prstGeom prst="rect">
            <a:avLst/>
          </a:prstGeom>
          <a:solidFill>
            <a:srgbClr val="EDD9C0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1664208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Token count each paragraph (tiktoken; fallback approx)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423160"/>
            <a:ext cx="4572000" cy="640080"/>
          </a:xfrm>
          <a:prstGeom prst="rect">
            <a:avLst/>
          </a:prstGeom>
          <a:solidFill>
            <a:srgbClr val="F2DDDD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24231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1616"/>
                </a:solidFill>
              </a:defRPr>
            </a:pPr>
            <a:r>
              <a:t>Decision A: paragraph_tokens &gt; max_tokens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264408"/>
            <a:ext cx="4572000" cy="640080"/>
          </a:xfrm>
          <a:prstGeom prst="rect">
            <a:avLst/>
          </a:prstGeom>
          <a:solidFill>
            <a:srgbClr val="E8C2C2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264408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YES -&gt; split long paragraph by sentences and emit bounded sub-chunks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105656"/>
            <a:ext cx="4572000" cy="640080"/>
          </a:xfrm>
          <a:prstGeom prst="rect">
            <a:avLst/>
          </a:prstGeom>
          <a:solidFill>
            <a:srgbClr val="F2DDDD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4105656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1616"/>
                </a:solidFill>
              </a:defRPr>
            </a:pPr>
            <a:r>
              <a:t>Decision B: current_tokens + para_tokens &gt; max_tokens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4946904"/>
            <a:ext cx="4572000" cy="1005840"/>
          </a:xfrm>
          <a:prstGeom prst="rect">
            <a:avLst/>
          </a:prstGeom>
          <a:solidFill>
            <a:srgbClr val="F0DFCA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4946904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If current &gt;= min_tokens: finalize chunk</a:t>
            </a:r>
            <a:br/>
            <a:r>
              <a:t>Append paragraph</a:t>
            </a:r>
            <a:br/>
            <a:r>
              <a:t>If current &gt;= target_tokens: finalize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914400"/>
            <a:ext cx="2514600" cy="731520"/>
          </a:xfrm>
          <a:prstGeom prst="rect">
            <a:avLst/>
          </a:prstGeom>
          <a:solidFill>
            <a:srgbClr val="EDD9C0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0" y="91440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Section end</a:t>
            </a:r>
            <a:br/>
            <a:r>
              <a:t>finalize remainder</a:t>
            </a:r>
            <a:br/>
            <a:r>
              <a:t>(if &gt;= min)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828800"/>
            <a:ext cx="2514600" cy="1005840"/>
          </a:xfrm>
          <a:prstGeom prst="rect">
            <a:avLst/>
          </a:prstGeom>
          <a:solidFill>
            <a:srgbClr val="F0DFCA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0" y="1828800"/>
            <a:ext cx="2514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Optional overlap</a:t>
            </a:r>
            <a:br/>
            <a:r>
              <a:t>within same</a:t>
            </a:r>
            <a:br/>
            <a:r>
              <a:t>(textbook, chapter, section)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044952"/>
            <a:ext cx="2514600" cy="731520"/>
          </a:xfrm>
          <a:prstGeom prst="rect">
            <a:avLst/>
          </a:prstGeom>
          <a:solidFill>
            <a:srgbClr val="E8C2C2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0" y="3044952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Optional tiny chunk filter</a:t>
            </a:r>
            <a:br/>
            <a:r>
              <a:t>(filter_min_tokens)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977639"/>
            <a:ext cx="2514600" cy="731520"/>
          </a:xfrm>
          <a:prstGeom prst="rect">
            <a:avLst/>
          </a:prstGeom>
          <a:solidFill>
            <a:srgbClr val="F2DDDD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3977639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Validate + stats</a:t>
            </a:r>
            <a:br/>
            <a:r>
              <a:t>(min/max checks)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910328"/>
            <a:ext cx="2514600" cy="731520"/>
          </a:xfrm>
          <a:prstGeom prst="rect">
            <a:avLst/>
          </a:prstGeom>
          <a:solidFill>
            <a:srgbClr val="DCD5E3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0" y="4910328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rPr dirty="0"/>
              <a:t>Output: </a:t>
            </a:r>
            <a:r>
              <a:rPr dirty="0" err="1"/>
              <a:t>SemanticChunk</a:t>
            </a:r>
            <a:r>
              <a:rPr dirty="0"/>
              <a:t> JSONL</a:t>
            </a:r>
            <a:br>
              <a:rPr dirty="0"/>
            </a:br>
            <a:r>
              <a:rPr dirty="0"/>
              <a:t>with textbook/chapter/section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6236208"/>
            <a:ext cx="8549640" cy="502920"/>
          </a:xfrm>
          <a:prstGeom prst="rect">
            <a:avLst/>
          </a:prstGeom>
          <a:solidFill>
            <a:srgbClr val="F4F4F4"/>
          </a:solidFill>
          <a:ln w="15240">
            <a:solidFill>
              <a:srgbClr val="62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6120" y="6236208"/>
            <a:ext cx="8549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61616"/>
                </a:solidFill>
              </a:defRPr>
            </a:pPr>
            <a:r>
              <a:t>Config knobs: min/target/max tokens, allow_cross_section=False, preserve_structure=True, enable_overlap, overlap_ratio/strategy, filter_min_tokens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933B54-9BCD-9AFF-A7DF-636C9E8FB99C}"/>
              </a:ext>
            </a:extLst>
          </p:cNvPr>
          <p:cNvGrpSpPr/>
          <p:nvPr/>
        </p:nvGrpSpPr>
        <p:grpSpPr>
          <a:xfrm>
            <a:off x="594360" y="914400"/>
            <a:ext cx="2194560" cy="3721608"/>
            <a:chOff x="594360" y="914400"/>
            <a:chExt cx="2194560" cy="3721608"/>
          </a:xfrm>
        </p:grpSpPr>
        <p:sp>
          <p:nvSpPr>
            <p:cNvPr id="10" name="Rectangle 9"/>
            <p:cNvSpPr/>
            <p:nvPr/>
          </p:nvSpPr>
          <p:spPr>
            <a:xfrm>
              <a:off x="594360" y="914400"/>
              <a:ext cx="2194560" cy="502920"/>
            </a:xfrm>
            <a:prstGeom prst="rect">
              <a:avLst/>
            </a:prstGeom>
            <a:solidFill>
              <a:srgbClr val="DCD5E3"/>
            </a:solidFill>
            <a:ln w="15240">
              <a:solidFill>
                <a:srgbClr val="6262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4360" y="914400"/>
              <a:ext cx="2194560" cy="5029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0">
                  <a:solidFill>
                    <a:srgbClr val="161616"/>
                  </a:solidFill>
                </a:defRPr>
              </a:pPr>
              <a:r>
                <a:t>Raw textbook .txt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4360" y="1591056"/>
              <a:ext cx="2194560" cy="868680"/>
            </a:xfrm>
            <a:prstGeom prst="rect">
              <a:avLst/>
            </a:prstGeom>
            <a:solidFill>
              <a:srgbClr val="EDD9C0"/>
            </a:solidFill>
            <a:ln w="15240">
              <a:solidFill>
                <a:srgbClr val="6262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360" y="1591056"/>
              <a:ext cx="2194560" cy="8686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0">
                  <a:solidFill>
                    <a:srgbClr val="161616"/>
                  </a:solidFill>
                </a:defRPr>
              </a:pPr>
              <a:r>
                <a:rPr dirty="0"/>
                <a:t>Clean text</a:t>
              </a:r>
              <a:br>
                <a:rPr dirty="0"/>
              </a:br>
              <a:r>
                <a:rPr dirty="0"/>
                <a:t>(remove figures/page refs,</a:t>
              </a:r>
              <a:br>
                <a:rPr dirty="0"/>
              </a:br>
              <a:r>
                <a:rPr dirty="0"/>
                <a:t>references, </a:t>
              </a:r>
              <a:r>
                <a:rPr dirty="0" err="1"/>
                <a:t>urls</a:t>
              </a:r>
              <a:r>
                <a:rPr dirty="0"/>
                <a:t>, normalize)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4360" y="2651760"/>
              <a:ext cx="2194560" cy="914400"/>
            </a:xfrm>
            <a:prstGeom prst="rect">
              <a:avLst/>
            </a:prstGeom>
            <a:solidFill>
              <a:srgbClr val="F0DFCA"/>
            </a:solidFill>
            <a:ln w="15240">
              <a:solidFill>
                <a:srgbClr val="6262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4360" y="2651760"/>
              <a:ext cx="219456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0">
                  <a:solidFill>
                    <a:srgbClr val="161616"/>
                  </a:solidFill>
                </a:defRPr>
              </a:pPr>
              <a:r>
                <a:t>Structure split</a:t>
              </a:r>
              <a:br/>
              <a:r>
                <a:t>chapters -&gt; sections</a:t>
              </a:r>
              <a:br/>
              <a:r>
                <a:t>regex/header rules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360" y="3767328"/>
              <a:ext cx="2194560" cy="868680"/>
            </a:xfrm>
            <a:prstGeom prst="rect">
              <a:avLst/>
            </a:prstGeom>
            <a:solidFill>
              <a:srgbClr val="E8C2C2"/>
            </a:solidFill>
            <a:ln w="15240">
              <a:solidFill>
                <a:srgbClr val="6262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" y="3767328"/>
              <a:ext cx="2194560" cy="8686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0">
                  <a:solidFill>
                    <a:srgbClr val="161616"/>
                  </a:solidFill>
                </a:defRPr>
              </a:pPr>
              <a:r>
                <a:t>Section queue</a:t>
              </a:r>
              <a:br/>
              <a:r>
                <a:t>process each TextSection</a:t>
              </a:r>
              <a:br/>
              <a:r>
                <a:t>independently</a:t>
              </a:r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1691640" y="1417320"/>
              <a:ext cx="0" cy="155448"/>
            </a:xfrm>
            <a:prstGeom prst="line">
              <a:avLst/>
            </a:prstGeom>
            <a:ln w="44450">
              <a:solidFill>
                <a:srgbClr val="BDBDB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1691640" y="2468880"/>
              <a:ext cx="0" cy="164592"/>
            </a:xfrm>
            <a:prstGeom prst="line">
              <a:avLst/>
            </a:prstGeom>
            <a:ln w="44450">
              <a:solidFill>
                <a:srgbClr val="BDBDB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1691640" y="3566160"/>
              <a:ext cx="0" cy="182879"/>
            </a:xfrm>
            <a:prstGeom prst="line">
              <a:avLst/>
            </a:prstGeom>
            <a:ln w="44450">
              <a:solidFill>
                <a:srgbClr val="BDBDB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 44"/>
          <p:cNvCxnSpPr/>
          <p:nvPr/>
        </p:nvCxnSpPr>
        <p:spPr>
          <a:xfrm>
            <a:off x="2798064" y="4206240"/>
            <a:ext cx="713232" cy="0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52160" y="1481328"/>
            <a:ext cx="0" cy="164592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52160" y="2212848"/>
            <a:ext cx="0" cy="182880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52160" y="3063240"/>
            <a:ext cx="0" cy="182880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52160" y="3904487"/>
            <a:ext cx="0" cy="182881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52160" y="4754880"/>
            <a:ext cx="0" cy="164592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56448" y="5440680"/>
            <a:ext cx="768096" cy="0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22992" y="1645920"/>
            <a:ext cx="0" cy="164592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22992" y="2834640"/>
            <a:ext cx="0" cy="192024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22992" y="3776472"/>
            <a:ext cx="0" cy="192024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222992" y="4709160"/>
            <a:ext cx="0" cy="192024"/>
          </a:xfrm>
          <a:prstGeom prst="line">
            <a:avLst/>
          </a:prstGeom>
          <a:ln w="444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183879" y="2697480"/>
            <a:ext cx="274321" cy="3017520"/>
          </a:xfrm>
          <a:prstGeom prst="bentConnector3">
            <a:avLst/>
          </a:prstGeom>
          <a:ln w="30480">
            <a:solidFill>
              <a:srgbClr val="9C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58987" y="2364362"/>
            <a:ext cx="320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E6E6E"/>
                </a:solidFill>
              </a:defRPr>
            </a:pPr>
            <a:r>
              <a:t>n</a:t>
            </a:r>
            <a:br/>
            <a:r>
              <a:t>e</a:t>
            </a:r>
            <a:br/>
            <a:r>
              <a:t>x</a:t>
            </a:r>
            <a:br/>
            <a:r>
              <a:t>t</a:t>
            </a:r>
            <a:br/>
            <a:r>
              <a:t> </a:t>
            </a:r>
            <a:br/>
            <a:r>
              <a:t>p</a:t>
            </a:r>
            <a:br/>
            <a:r>
              <a:t>a</a:t>
            </a:r>
            <a:br/>
            <a:r>
              <a:t>r</a:t>
            </a:r>
            <a:br/>
            <a: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257860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61616"/>
                </a:solidFill>
              </a:defRPr>
            </a:pPr>
            <a:r>
              <a:t>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426110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61616"/>
                </a:solidFill>
              </a:defRPr>
            </a:pPr>
            <a:r>
              <a:t>YES/NO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Figure: Implementation-level section-wise chunking workflow used in this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85A99BA-D433-79B0-598E-FEE4F9091900}"/>
              </a:ext>
            </a:extLst>
          </p:cNvPr>
          <p:cNvGrpSpPr/>
          <p:nvPr/>
        </p:nvGrpSpPr>
        <p:grpSpPr>
          <a:xfrm>
            <a:off x="871870" y="412871"/>
            <a:ext cx="8008035" cy="3291840"/>
            <a:chOff x="0" y="232117"/>
            <a:chExt cx="8008035" cy="329184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C67B26E-710E-49E6-F8AC-FC9CEDCA194C}"/>
                </a:ext>
              </a:extLst>
            </p:cNvPr>
            <p:cNvSpPr/>
            <p:nvPr/>
          </p:nvSpPr>
          <p:spPr>
            <a:xfrm>
              <a:off x="0" y="232117"/>
              <a:ext cx="8008035" cy="32918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D075769-72FD-F766-C587-56277BBDB356}"/>
                </a:ext>
              </a:extLst>
            </p:cNvPr>
            <p:cNvGrpSpPr/>
            <p:nvPr/>
          </p:nvGrpSpPr>
          <p:grpSpPr>
            <a:xfrm>
              <a:off x="249700" y="868653"/>
              <a:ext cx="5085471" cy="2098169"/>
              <a:chOff x="1192236" y="457173"/>
              <a:chExt cx="5085471" cy="2098169"/>
            </a:xfrm>
          </p:grpSpPr>
          <p:sp>
            <p:nvSpPr>
              <p:cNvPr id="21" name="Right Arrow 20">
                <a:extLst>
                  <a:ext uri="{FF2B5EF4-FFF2-40B4-BE49-F238E27FC236}">
                    <a16:creationId xmlns:a16="http://schemas.microsoft.com/office/drawing/2014/main" id="{F7B54AEE-657E-3BA1-5167-2967404F67E6}"/>
                  </a:ext>
                </a:extLst>
              </p:cNvPr>
              <p:cNvSpPr/>
              <p:nvPr/>
            </p:nvSpPr>
            <p:spPr>
              <a:xfrm>
                <a:off x="5940083" y="809948"/>
                <a:ext cx="337624" cy="132587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/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C086ED3-408E-D54B-AD80-84571A22E927}"/>
                  </a:ext>
                </a:extLst>
              </p:cNvPr>
              <p:cNvGrpSpPr/>
              <p:nvPr/>
            </p:nvGrpSpPr>
            <p:grpSpPr>
              <a:xfrm>
                <a:off x="1192236" y="457173"/>
                <a:ext cx="4768948" cy="2098169"/>
                <a:chOff x="826476" y="614684"/>
                <a:chExt cx="4768948" cy="209816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5A5ABC7-0AF7-B226-20B5-2DBFDE0D1C2D}"/>
                    </a:ext>
                  </a:extLst>
                </p:cNvPr>
                <p:cNvSpPr/>
                <p:nvPr/>
              </p:nvSpPr>
              <p:spPr>
                <a:xfrm>
                  <a:off x="826476" y="788431"/>
                  <a:ext cx="2194560" cy="502920"/>
                </a:xfrm>
                <a:prstGeom prst="rect">
                  <a:avLst/>
                </a:prstGeom>
                <a:solidFill>
                  <a:srgbClr val="DCD5E3"/>
                </a:solidFill>
                <a:ln w="15240">
                  <a:solidFill>
                    <a:srgbClr val="62626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DFE6DBD-3494-79AA-A8A8-7E26C33737CA}"/>
                    </a:ext>
                  </a:extLst>
                </p:cNvPr>
                <p:cNvSpPr txBox="1"/>
                <p:nvPr/>
              </p:nvSpPr>
              <p:spPr>
                <a:xfrm>
                  <a:off x="1140143" y="894354"/>
                  <a:ext cx="1567225" cy="3077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>
                    <a:defRPr sz="1400" b="0">
                      <a:solidFill>
                        <a:srgbClr val="161616"/>
                      </a:solidFill>
                    </a:defRPr>
                  </a:pPr>
                  <a:r>
                    <a:rPr lang="en-US" dirty="0"/>
                    <a:t>Medical </a:t>
                  </a:r>
                  <a:r>
                    <a:rPr dirty="0"/>
                    <a:t>textbook</a:t>
                  </a:r>
                  <a:r>
                    <a:rPr lang="en-US" dirty="0"/>
                    <a:t>s</a:t>
                  </a:r>
                  <a:r>
                    <a:rPr dirty="0"/>
                    <a:t> 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DF9C099-1C70-9A05-690E-93F9C85AAC83}"/>
                    </a:ext>
                  </a:extLst>
                </p:cNvPr>
                <p:cNvSpPr/>
                <p:nvPr/>
              </p:nvSpPr>
              <p:spPr>
                <a:xfrm>
                  <a:off x="826476" y="1836139"/>
                  <a:ext cx="2194560" cy="868680"/>
                </a:xfrm>
                <a:prstGeom prst="rect">
                  <a:avLst/>
                </a:prstGeom>
                <a:solidFill>
                  <a:srgbClr val="EDD9C0"/>
                </a:solidFill>
                <a:ln w="15240">
                  <a:solidFill>
                    <a:srgbClr val="62626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FB2B820-53C2-3C24-B8BA-46922C947514}"/>
                    </a:ext>
                  </a:extLst>
                </p:cNvPr>
                <p:cNvSpPr txBox="1"/>
                <p:nvPr/>
              </p:nvSpPr>
              <p:spPr>
                <a:xfrm>
                  <a:off x="1434090" y="2081631"/>
                  <a:ext cx="919547" cy="52322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>
                    <a:defRPr sz="1100" b="0">
                      <a:solidFill>
                        <a:srgbClr val="161616"/>
                      </a:solidFill>
                    </a:defRPr>
                  </a:pPr>
                  <a:r>
                    <a:rPr sz="1400" dirty="0"/>
                    <a:t>Clean text</a:t>
                  </a:r>
                  <a:br>
                    <a:rPr sz="1400" dirty="0"/>
                  </a:br>
                  <a:endParaRPr sz="1400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CE38DBC-1465-BB66-3057-89D272958E8F}"/>
                    </a:ext>
                  </a:extLst>
                </p:cNvPr>
                <p:cNvSpPr/>
                <p:nvPr/>
              </p:nvSpPr>
              <p:spPr>
                <a:xfrm>
                  <a:off x="3379763" y="1798453"/>
                  <a:ext cx="2194560" cy="914400"/>
                </a:xfrm>
                <a:prstGeom prst="rect">
                  <a:avLst/>
                </a:prstGeom>
                <a:solidFill>
                  <a:srgbClr val="F0DFCA"/>
                </a:solidFill>
                <a:ln w="15240">
                  <a:solidFill>
                    <a:srgbClr val="62626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82C3841-066D-B433-86E3-435F887FAE1E}"/>
                    </a:ext>
                  </a:extLst>
                </p:cNvPr>
                <p:cNvSpPr txBox="1"/>
                <p:nvPr/>
              </p:nvSpPr>
              <p:spPr>
                <a:xfrm>
                  <a:off x="3352335" y="1866681"/>
                  <a:ext cx="219456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100" b="0">
                      <a:solidFill>
                        <a:srgbClr val="161616"/>
                      </a:solidFill>
                    </a:defRPr>
                  </a:pPr>
                  <a:r>
                    <a:rPr sz="1400" dirty="0"/>
                    <a:t>Structure split</a:t>
                  </a:r>
                  <a:br>
                    <a:rPr sz="1400" dirty="0"/>
                  </a:br>
                  <a:r>
                    <a:rPr sz="1400" dirty="0"/>
                    <a:t>chapters </a:t>
                  </a:r>
                  <a:r>
                    <a:rPr lang="en-US" sz="1400" dirty="0"/>
                    <a:t>into </a:t>
                  </a:r>
                  <a:r>
                    <a:rPr sz="1400" dirty="0"/>
                    <a:t>sections</a:t>
                  </a:r>
                  <a:br>
                    <a:rPr sz="1400" dirty="0"/>
                  </a:br>
                  <a:endParaRPr sz="1400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0F16017-8226-3240-C902-792A63C11479}"/>
                    </a:ext>
                  </a:extLst>
                </p:cNvPr>
                <p:cNvSpPr/>
                <p:nvPr/>
              </p:nvSpPr>
              <p:spPr>
                <a:xfrm>
                  <a:off x="3400864" y="614684"/>
                  <a:ext cx="2194560" cy="868680"/>
                </a:xfrm>
                <a:prstGeom prst="rect">
                  <a:avLst/>
                </a:prstGeom>
                <a:solidFill>
                  <a:srgbClr val="E8C2C2"/>
                </a:solidFill>
                <a:ln w="15240">
                  <a:solidFill>
                    <a:srgbClr val="62626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C4FFDF-76A6-91AD-3CCC-E95D0AF54748}"/>
                  </a:ext>
                </a:extLst>
              </p:cNvPr>
              <p:cNvSpPr txBox="1"/>
              <p:nvPr/>
            </p:nvSpPr>
            <p:spPr>
              <a:xfrm>
                <a:off x="3718095" y="535150"/>
                <a:ext cx="21945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100" b="0">
                    <a:solidFill>
                      <a:srgbClr val="161616"/>
                    </a:solidFill>
                  </a:defRPr>
                </a:pPr>
                <a:r>
                  <a:rPr sz="1400" dirty="0"/>
                  <a:t>Split section</a:t>
                </a:r>
                <a:r>
                  <a:rPr lang="en-US" sz="1400" dirty="0"/>
                  <a:t>s</a:t>
                </a:r>
                <a:r>
                  <a:rPr sz="1400" dirty="0"/>
                  <a:t> into paragraphs</a:t>
                </a:r>
              </a:p>
            </p:txBody>
          </p:sp>
        </p:grpSp>
        <p:sp>
          <p:nvSpPr>
            <p:cNvPr id="23" name="Magnetic Disk 22">
              <a:extLst>
                <a:ext uri="{FF2B5EF4-FFF2-40B4-BE49-F238E27FC236}">
                  <a16:creationId xmlns:a16="http://schemas.microsoft.com/office/drawing/2014/main" id="{3F12AC9C-29BF-7204-39F5-6934C8B4453B}"/>
                </a:ext>
              </a:extLst>
            </p:cNvPr>
            <p:cNvSpPr/>
            <p:nvPr/>
          </p:nvSpPr>
          <p:spPr>
            <a:xfrm>
              <a:off x="5335171" y="881622"/>
              <a:ext cx="2391508" cy="868680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161616"/>
                  </a:solidFill>
                </a:defRPr>
              </a:pPr>
              <a:r>
                <a:rPr lang="en-GB" sz="1400" dirty="0"/>
                <a:t>Knowledge- base </a:t>
              </a:r>
              <a:br>
                <a:rPr lang="en-GB" sz="1400" dirty="0"/>
              </a:br>
              <a:endParaRPr lang="en-GB" sz="1400" dirty="0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5FD2A8A9-B128-9967-7C8F-3EF970895981}"/>
                </a:ext>
              </a:extLst>
            </p:cNvPr>
            <p:cNvSpPr/>
            <p:nvPr/>
          </p:nvSpPr>
          <p:spPr>
            <a:xfrm>
              <a:off x="2444260" y="2489982"/>
              <a:ext cx="358727" cy="126609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BCBBC976-CA47-3E13-B697-7690FE6ECE9A}"/>
                </a:ext>
              </a:extLst>
            </p:cNvPr>
            <p:cNvSpPr/>
            <p:nvPr/>
          </p:nvSpPr>
          <p:spPr>
            <a:xfrm flipH="1">
              <a:off x="1244992" y="1545320"/>
              <a:ext cx="144192" cy="507102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  <p:sp>
          <p:nvSpPr>
            <p:cNvPr id="27" name="Up Arrow 26">
              <a:extLst>
                <a:ext uri="{FF2B5EF4-FFF2-40B4-BE49-F238E27FC236}">
                  <a16:creationId xmlns:a16="http://schemas.microsoft.com/office/drawing/2014/main" id="{698F2FB1-6CE6-52CB-D225-DE7D586EA224}"/>
                </a:ext>
              </a:extLst>
            </p:cNvPr>
            <p:cNvSpPr/>
            <p:nvPr/>
          </p:nvSpPr>
          <p:spPr>
            <a:xfrm>
              <a:off x="3756074" y="1737333"/>
              <a:ext cx="144193" cy="315089"/>
            </a:xfrm>
            <a:prstGeom prst="up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</p:grpSp>
    </p:spTree>
    <p:extLst>
      <p:ext uri="{BB962C8B-B14F-4D97-AF65-F5344CB8AC3E}">
        <p14:creationId xmlns:p14="http://schemas.microsoft.com/office/powerpoint/2010/main" val="107267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284</Words>
  <Application>Microsoft Macintosh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Nusrat Sultana</cp:lastModifiedBy>
  <cp:revision>3</cp:revision>
  <dcterms:created xsi:type="dcterms:W3CDTF">2013-01-27T09:14:16Z</dcterms:created>
  <dcterms:modified xsi:type="dcterms:W3CDTF">2026-03-15T17:34:44Z</dcterms:modified>
  <cp:category/>
</cp:coreProperties>
</file>