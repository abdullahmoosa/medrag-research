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 snapToGrid="0" snapToObjects="1">
      <p:cViewPr varScale="1">
        <p:scale>
          <a:sx n="91" d="100"/>
          <a:sy n="91" d="100"/>
        </p:scale>
        <p:origin x="200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D8E2240A-F793-44CF-4962-B01353D10140}"/>
              </a:ext>
            </a:extLst>
          </p:cNvPr>
          <p:cNvGrpSpPr/>
          <p:nvPr/>
        </p:nvGrpSpPr>
        <p:grpSpPr>
          <a:xfrm>
            <a:off x="1102595" y="997706"/>
            <a:ext cx="9707525" cy="3989018"/>
            <a:chOff x="7442" y="-193141"/>
            <a:chExt cx="9707525" cy="3989018"/>
          </a:xfrm>
        </p:grpSpPr>
        <p:sp>
          <p:nvSpPr>
            <p:cNvPr id="2" name="Rectangle 1"/>
            <p:cNvSpPr/>
            <p:nvPr/>
          </p:nvSpPr>
          <p:spPr>
            <a:xfrm>
              <a:off x="7442" y="-193141"/>
              <a:ext cx="9707525" cy="39890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165598" y="18288"/>
              <a:ext cx="6114238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 b="1">
                  <a:solidFill>
                    <a:srgbClr val="181818"/>
                  </a:solidFill>
                </a:defRPr>
              </a:pPr>
              <a:r>
                <a:rPr lang="en-US" dirty="0"/>
                <a:t>Knowledge-base </a:t>
              </a:r>
              <a:r>
                <a:rPr dirty="0"/>
                <a:t> Preparation Workflow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40080" y="1005840"/>
              <a:ext cx="2377440" cy="2247721"/>
            </a:xfrm>
            <a:prstGeom prst="roundRect">
              <a:avLst/>
            </a:prstGeom>
            <a:noFill/>
            <a:ln w="22860">
              <a:solidFill>
                <a:srgbClr val="1818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0">
                  <a:solidFill>
                    <a:srgbClr val="181818"/>
                  </a:solidFill>
                </a:defRPr>
              </a:pPr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10093" y="810201"/>
              <a:ext cx="1519343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ctr">
                <a:defRPr sz="2200" b="1"/>
              </a:pPr>
              <a:r>
                <a:rPr sz="1600" dirty="0"/>
                <a:t>Corpora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896112" y="1325880"/>
              <a:ext cx="1865376" cy="475488"/>
            </a:xfrm>
            <a:prstGeom prst="rect">
              <a:avLst/>
            </a:prstGeom>
            <a:solidFill>
              <a:srgbClr val="E9C7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t>Textbooks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896112" y="1929384"/>
              <a:ext cx="1865376" cy="475488"/>
            </a:xfrm>
            <a:prstGeom prst="rect">
              <a:avLst/>
            </a:prstGeom>
            <a:solidFill>
              <a:srgbClr val="F1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rPr dirty="0"/>
                <a:t>Cleaned Text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96112" y="2532888"/>
              <a:ext cx="1865376" cy="475488"/>
            </a:xfrm>
            <a:prstGeom prst="rect">
              <a:avLst/>
            </a:prstGeom>
            <a:solidFill>
              <a:srgbClr val="EDD9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t>Corpus JSONL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657600" y="1005840"/>
              <a:ext cx="2377440" cy="2247720"/>
            </a:xfrm>
            <a:prstGeom prst="roundRect">
              <a:avLst/>
            </a:prstGeom>
            <a:noFill/>
            <a:ln w="22860">
              <a:solidFill>
                <a:srgbClr val="1818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0">
                  <a:solidFill>
                    <a:srgbClr val="181818"/>
                  </a:solidFill>
                </a:defRPr>
              </a:pPr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23360" y="810201"/>
              <a:ext cx="1675691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ctr">
                <a:defRPr sz="2200" b="1"/>
              </a:pPr>
              <a:r>
                <a:rPr sz="1600" dirty="0"/>
                <a:t>Chunking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3632" y="1325880"/>
              <a:ext cx="1865376" cy="475488"/>
            </a:xfrm>
            <a:prstGeom prst="rect">
              <a:avLst/>
            </a:prstGeom>
            <a:solidFill>
              <a:srgbClr val="EDD9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t>Section Split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13632" y="1929384"/>
              <a:ext cx="1865376" cy="475488"/>
            </a:xfrm>
            <a:prstGeom prst="rect">
              <a:avLst/>
            </a:prstGeom>
            <a:solidFill>
              <a:srgbClr val="F0DF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rPr dirty="0"/>
                <a:t>Size + Overlap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13632" y="2532888"/>
              <a:ext cx="1865376" cy="475488"/>
            </a:xfrm>
            <a:prstGeom prst="rect">
              <a:avLst/>
            </a:prstGeom>
            <a:solidFill>
              <a:srgbClr val="E9C7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t>Metadata Tags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75120" y="1005841"/>
              <a:ext cx="2651760" cy="2247720"/>
            </a:xfrm>
            <a:prstGeom prst="roundRect">
              <a:avLst/>
            </a:prstGeom>
            <a:noFill/>
            <a:ln w="22860">
              <a:solidFill>
                <a:srgbClr val="1818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0">
                  <a:solidFill>
                    <a:srgbClr val="181818"/>
                  </a:solidFill>
                </a:defRPr>
              </a:pPr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931152" y="1349640"/>
              <a:ext cx="2139696" cy="475488"/>
            </a:xfrm>
            <a:prstGeom prst="rect">
              <a:avLst/>
            </a:prstGeom>
            <a:solidFill>
              <a:srgbClr val="F1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rPr lang="en-US" dirty="0"/>
                <a:t>Dense</a:t>
              </a:r>
              <a:endParaRPr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931152" y="2146020"/>
              <a:ext cx="2139696" cy="475488"/>
            </a:xfrm>
            <a:prstGeom prst="rect">
              <a:avLst/>
            </a:prstGeom>
            <a:solidFill>
              <a:srgbClr val="EDD9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0">
                  <a:solidFill>
                    <a:srgbClr val="181818"/>
                  </a:solidFill>
                </a:defRPr>
              </a:pPr>
              <a:r>
                <a:rPr dirty="0"/>
                <a:t>Hybrid</a:t>
              </a:r>
              <a:r>
                <a:rPr lang="en-US" dirty="0"/>
                <a:t> (Dense + Lexical)</a:t>
              </a:r>
              <a:endParaRPr dirty="0"/>
            </a:p>
          </p:txBody>
        </p:sp>
        <p:sp>
          <p:nvSpPr>
            <p:cNvPr id="20" name="TextBox 19"/>
            <p:cNvSpPr txBox="1"/>
            <p:nvPr/>
          </p:nvSpPr>
          <p:spPr>
            <a:xfrm rot="16200000">
              <a:off x="2642616" y="1290261"/>
              <a:ext cx="118872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600" b="1">
                  <a:solidFill>
                    <a:srgbClr val="181818"/>
                  </a:solidFill>
                </a:defRPr>
              </a:pPr>
              <a:r>
                <a:rPr dirty="0"/>
                <a:t>Preprocessing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16200000">
              <a:off x="5660136" y="1290261"/>
              <a:ext cx="118872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600" b="1">
                  <a:solidFill>
                    <a:srgbClr val="181818"/>
                  </a:solidFill>
                </a:defRPr>
              </a:pPr>
              <a:r>
                <a:rPr dirty="0"/>
                <a:t>Index Build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08876" y="810201"/>
              <a:ext cx="1982725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effectLst>
              <a:outerShdw sx="1000" sy="1000" algn="ctr" rotWithShape="0">
                <a:schemeClr val="bg1"/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 sz="2200" b="1"/>
              </a:pPr>
              <a:r>
                <a:rPr sz="1600" dirty="0"/>
                <a:t>Indexing</a:t>
              </a:r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098B827B-B84F-D004-A04C-D498F7DF78ED}"/>
                </a:ext>
              </a:extLst>
            </p:cNvPr>
            <p:cNvSpPr/>
            <p:nvPr/>
          </p:nvSpPr>
          <p:spPr>
            <a:xfrm>
              <a:off x="3101486" y="2087914"/>
              <a:ext cx="456087" cy="152365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D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9121DF11-D491-C460-8BEA-8BE26B671724}"/>
                </a:ext>
              </a:extLst>
            </p:cNvPr>
            <p:cNvSpPr/>
            <p:nvPr/>
          </p:nvSpPr>
          <p:spPr>
            <a:xfrm>
              <a:off x="6126480" y="2087914"/>
              <a:ext cx="456087" cy="152365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D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8FB55-C5CF-E261-4022-2F90A794C96E}"/>
              </a:ext>
            </a:extLst>
          </p:cNvPr>
          <p:cNvSpPr txBox="1"/>
          <p:nvPr/>
        </p:nvSpPr>
        <p:spPr>
          <a:xfrm>
            <a:off x="548640" y="62362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181818"/>
                </a:solidFill>
              </a:defRPr>
            </a:pPr>
            <a:r>
              <a:rPr dirty="0"/>
              <a:t>Figure: Corpora to chunking and indexing workflow (Textbooks-only corpus).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AF853-34DE-BB0E-E62D-EF091F492972}"/>
              </a:ext>
            </a:extLst>
          </p:cNvPr>
          <p:cNvSpPr txBox="1"/>
          <p:nvPr/>
        </p:nvSpPr>
        <p:spPr>
          <a:xfrm>
            <a:off x="-457909" y="1221185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181818"/>
                </a:solidFill>
              </a:defRPr>
            </a:pPr>
            <a:r>
              <a:rPr dirty="0"/>
              <a:t>Figure: Query to answer workflow with reformulation, retrieval, prompting, and LLM generation.</a:t>
            </a:r>
          </a:p>
        </p:txBody>
      </p:sp>
    </p:spTree>
    <p:extLst>
      <p:ext uri="{BB962C8B-B14F-4D97-AF65-F5344CB8AC3E}">
        <p14:creationId xmlns:p14="http://schemas.microsoft.com/office/powerpoint/2010/main" val="241481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11E2C727-88ED-E2AC-6557-04F1BD4CF379}"/>
              </a:ext>
            </a:extLst>
          </p:cNvPr>
          <p:cNvGrpSpPr/>
          <p:nvPr/>
        </p:nvGrpSpPr>
        <p:grpSpPr>
          <a:xfrm>
            <a:off x="1208566" y="393405"/>
            <a:ext cx="10030048" cy="5305648"/>
            <a:chOff x="1144771" y="350874"/>
            <a:chExt cx="10030048" cy="5305648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67B8AF4-2FA9-2BF6-2B8D-2EB2B4B5759D}"/>
                </a:ext>
              </a:extLst>
            </p:cNvPr>
            <p:cNvGrpSpPr/>
            <p:nvPr/>
          </p:nvGrpSpPr>
          <p:grpSpPr>
            <a:xfrm>
              <a:off x="1144771" y="350874"/>
              <a:ext cx="10030048" cy="5305648"/>
              <a:chOff x="1144771" y="350874"/>
              <a:chExt cx="10030048" cy="5305648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03E50EC-BD95-4553-B964-B49E0EE4BD06}"/>
                  </a:ext>
                </a:extLst>
              </p:cNvPr>
              <p:cNvSpPr/>
              <p:nvPr/>
            </p:nvSpPr>
            <p:spPr>
              <a:xfrm>
                <a:off x="1144771" y="350874"/>
                <a:ext cx="10030048" cy="53056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4623690" y="374834"/>
                <a:ext cx="3293274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GB" b="1" dirty="0"/>
                  <a:t>Query-to-Answer RAG Workflow</a:t>
                </a:r>
                <a:endParaRPr lang="en-GB" dirty="0"/>
              </a:p>
            </p:txBody>
          </p:sp>
          <p:sp>
            <p:nvSpPr>
              <p:cNvPr id="4" name="Rounded Rectangle 3"/>
              <p:cNvSpPr/>
              <p:nvPr/>
            </p:nvSpPr>
            <p:spPr>
              <a:xfrm>
                <a:off x="1280430" y="1536618"/>
                <a:ext cx="1262148" cy="731520"/>
              </a:xfrm>
              <a:prstGeom prst="roundRect">
                <a:avLst/>
              </a:prstGeom>
              <a:solidFill>
                <a:srgbClr val="DCD5E3"/>
              </a:solidFill>
              <a:ln>
                <a:solidFill>
                  <a:srgbClr val="9B8D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700" b="0">
                    <a:solidFill>
                      <a:srgbClr val="181818"/>
                    </a:solidFill>
                  </a:defRPr>
                </a:pPr>
                <a:r>
                  <a:rPr dirty="0"/>
                  <a:t>Que</a:t>
                </a:r>
                <a:r>
                  <a:rPr lang="en-US" dirty="0"/>
                  <a:t>ry</a:t>
                </a:r>
                <a:endParaRPr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7CFBA388-AE1C-A807-2FF1-B6F899DFC31E}"/>
                  </a:ext>
                </a:extLst>
              </p:cNvPr>
              <p:cNvGrpSpPr/>
              <p:nvPr/>
            </p:nvGrpSpPr>
            <p:grpSpPr>
              <a:xfrm>
                <a:off x="3049808" y="957548"/>
                <a:ext cx="1679284" cy="1839134"/>
                <a:chOff x="2069756" y="868680"/>
                <a:chExt cx="1679284" cy="1839134"/>
              </a:xfrm>
            </p:grpSpPr>
            <p:sp>
              <p:nvSpPr>
                <p:cNvPr id="5" name="Rounded Rectangle 4"/>
                <p:cNvSpPr/>
                <p:nvPr/>
              </p:nvSpPr>
              <p:spPr>
                <a:xfrm>
                  <a:off x="2069756" y="868680"/>
                  <a:ext cx="1679284" cy="1839134"/>
                </a:xfrm>
                <a:prstGeom prst="roundRect">
                  <a:avLst/>
                </a:prstGeom>
                <a:noFill/>
                <a:ln w="22860">
                  <a:solidFill>
                    <a:srgbClr val="18181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000" b="0">
                      <a:solidFill>
                        <a:srgbClr val="181818"/>
                      </a:solidFill>
                    </a:defRPr>
                  </a:pPr>
                  <a:endParaRPr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2267712" y="1188720"/>
                  <a:ext cx="1316736" cy="475488"/>
                </a:xfrm>
                <a:prstGeom prst="rect">
                  <a:avLst/>
                </a:prstGeom>
                <a:solidFill>
                  <a:srgbClr val="EDD9C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/>
                    <a:t>Raw Query</a:t>
                  </a: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2195264" y="1895723"/>
                  <a:ext cx="1461630" cy="639777"/>
                </a:xfrm>
                <a:prstGeom prst="rect">
                  <a:avLst/>
                </a:prstGeom>
                <a:solidFill>
                  <a:srgbClr val="F1DDD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lang="en-US" dirty="0"/>
                    <a:t>Reformulated</a:t>
                  </a:r>
                  <a:r>
                    <a:rPr dirty="0"/>
                    <a:t> Query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818DE408-79C8-AD13-395B-8CF2D9D75904}"/>
                  </a:ext>
                </a:extLst>
              </p:cNvPr>
              <p:cNvGrpSpPr/>
              <p:nvPr/>
            </p:nvGrpSpPr>
            <p:grpSpPr>
              <a:xfrm>
                <a:off x="5453781" y="3212098"/>
                <a:ext cx="1679284" cy="2130557"/>
                <a:chOff x="4218596" y="868680"/>
                <a:chExt cx="1679284" cy="2130557"/>
              </a:xfrm>
            </p:grpSpPr>
            <p:sp>
              <p:nvSpPr>
                <p:cNvPr id="11" name="Rounded Rectangle 10"/>
                <p:cNvSpPr/>
                <p:nvPr/>
              </p:nvSpPr>
              <p:spPr>
                <a:xfrm>
                  <a:off x="4218596" y="868680"/>
                  <a:ext cx="1679284" cy="2130557"/>
                </a:xfrm>
                <a:prstGeom prst="roundRect">
                  <a:avLst/>
                </a:prstGeom>
                <a:noFill/>
                <a:ln w="22860">
                  <a:solidFill>
                    <a:srgbClr val="18181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000" b="0">
                      <a:solidFill>
                        <a:srgbClr val="181818"/>
                      </a:solidFill>
                    </a:defRPr>
                  </a:pPr>
                  <a:endParaRPr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4416552" y="1188720"/>
                  <a:ext cx="1316736" cy="475488"/>
                </a:xfrm>
                <a:prstGeom prst="rect">
                  <a:avLst/>
                </a:prstGeom>
                <a:solidFill>
                  <a:srgbClr val="EDD9C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t>Dense</a:t>
                  </a:r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4416552" y="1792224"/>
                  <a:ext cx="1316736" cy="475488"/>
                </a:xfrm>
                <a:prstGeom prst="rect">
                  <a:avLst/>
                </a:prstGeom>
                <a:solidFill>
                  <a:srgbClr val="F0DFC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/>
                    <a:t>Hybrid</a:t>
                  </a:r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4416552" y="2395728"/>
                  <a:ext cx="1316736" cy="475488"/>
                </a:xfrm>
                <a:prstGeom prst="rect">
                  <a:avLst/>
                </a:prstGeom>
                <a:solidFill>
                  <a:srgbClr val="E9C7C7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 err="1"/>
                    <a:t>Reranker</a:t>
                  </a:r>
                  <a:endParaRPr dirty="0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AEE4066-6E3E-95EA-5BB2-2B82062904C9}"/>
                  </a:ext>
                </a:extLst>
              </p:cNvPr>
              <p:cNvGrpSpPr/>
              <p:nvPr/>
            </p:nvGrpSpPr>
            <p:grpSpPr>
              <a:xfrm>
                <a:off x="7668201" y="3661597"/>
                <a:ext cx="1709763" cy="1612422"/>
                <a:chOff x="6367436" y="868681"/>
                <a:chExt cx="1709763" cy="1612422"/>
              </a:xfrm>
            </p:grpSpPr>
            <p:sp>
              <p:nvSpPr>
                <p:cNvPr id="17" name="Rounded Rectangle 16"/>
                <p:cNvSpPr/>
                <p:nvPr/>
              </p:nvSpPr>
              <p:spPr>
                <a:xfrm>
                  <a:off x="6367436" y="868681"/>
                  <a:ext cx="1709763" cy="1612422"/>
                </a:xfrm>
                <a:prstGeom prst="roundRect">
                  <a:avLst/>
                </a:prstGeom>
                <a:noFill/>
                <a:ln w="22860">
                  <a:solidFill>
                    <a:srgbClr val="18181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000" b="0">
                      <a:solidFill>
                        <a:srgbClr val="181818"/>
                      </a:solidFill>
                    </a:defRPr>
                  </a:pPr>
                  <a:endParaRPr/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6565392" y="1162172"/>
                  <a:ext cx="1316736" cy="475488"/>
                </a:xfrm>
                <a:prstGeom prst="rect">
                  <a:avLst/>
                </a:prstGeom>
                <a:solidFill>
                  <a:srgbClr val="E9C7C7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/>
                    <a:t>Zero-shot</a:t>
                  </a:r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6565392" y="1787647"/>
                  <a:ext cx="1316736" cy="475488"/>
                </a:xfrm>
                <a:prstGeom prst="rect">
                  <a:avLst/>
                </a:prstGeom>
                <a:solidFill>
                  <a:srgbClr val="F1DDD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 err="1"/>
                    <a:t>CoT</a:t>
                  </a:r>
                  <a:endParaRPr dirty="0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88BF7021-0A75-06DF-7AB4-63F557BF5389}"/>
                  </a:ext>
                </a:extLst>
              </p:cNvPr>
              <p:cNvGrpSpPr/>
              <p:nvPr/>
            </p:nvGrpSpPr>
            <p:grpSpPr>
              <a:xfrm>
                <a:off x="7724709" y="943291"/>
                <a:ext cx="1709763" cy="1839134"/>
                <a:chOff x="8515348" y="868680"/>
                <a:chExt cx="1709763" cy="1839134"/>
              </a:xfrm>
            </p:grpSpPr>
            <p:sp>
              <p:nvSpPr>
                <p:cNvPr id="23" name="Rounded Rectangle 22"/>
                <p:cNvSpPr/>
                <p:nvPr/>
              </p:nvSpPr>
              <p:spPr>
                <a:xfrm>
                  <a:off x="8515348" y="868680"/>
                  <a:ext cx="1709763" cy="1839134"/>
                </a:xfrm>
                <a:prstGeom prst="roundRect">
                  <a:avLst/>
                </a:prstGeom>
                <a:noFill/>
                <a:ln w="22860">
                  <a:solidFill>
                    <a:srgbClr val="18181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000" b="0">
                      <a:solidFill>
                        <a:srgbClr val="181818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8711861" y="1303866"/>
                  <a:ext cx="1316736" cy="475488"/>
                </a:xfrm>
                <a:prstGeom prst="rect">
                  <a:avLst/>
                </a:prstGeom>
                <a:solidFill>
                  <a:srgbClr val="EDD9C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/>
                    <a:t>Llama3-Med42</a:t>
                  </a:r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8698561" y="2007108"/>
                  <a:ext cx="1316736" cy="475488"/>
                </a:xfrm>
                <a:prstGeom prst="rect">
                  <a:avLst/>
                </a:prstGeom>
                <a:solidFill>
                  <a:srgbClr val="F0DFC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/>
                    <a:t>Gemma3</a:t>
                  </a:r>
                </a:p>
              </p:txBody>
            </p:sp>
          </p:grpSp>
          <p:sp>
            <p:nvSpPr>
              <p:cNvPr id="28" name="Rounded Rectangle 27"/>
              <p:cNvSpPr/>
              <p:nvPr/>
            </p:nvSpPr>
            <p:spPr>
              <a:xfrm>
                <a:off x="9973599" y="1575645"/>
                <a:ext cx="1073630" cy="635928"/>
              </a:xfrm>
              <a:prstGeom prst="roundRect">
                <a:avLst/>
              </a:prstGeom>
              <a:solidFill>
                <a:srgbClr val="EBEBEB"/>
              </a:solidFill>
              <a:ln>
                <a:solidFill>
                  <a:srgbClr val="8F8F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700" b="0">
                    <a:solidFill>
                      <a:srgbClr val="3C3C3C"/>
                    </a:solidFill>
                  </a:defRPr>
                </a:pPr>
                <a:r>
                  <a:rPr b="1" dirty="0"/>
                  <a:t>Answer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60CA352-9D15-BCFB-4312-F1791F18012B}"/>
                  </a:ext>
                </a:extLst>
              </p:cNvPr>
              <p:cNvSpPr txBox="1"/>
              <p:nvPr/>
            </p:nvSpPr>
            <p:spPr>
              <a:xfrm>
                <a:off x="3129778" y="800977"/>
                <a:ext cx="1519343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defRPr sz="2200" b="1"/>
                </a:pPr>
                <a:r>
                  <a:rPr lang="en-US" sz="1600" dirty="0"/>
                  <a:t>Reformulation</a:t>
                </a:r>
                <a:endParaRPr sz="16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3D6B52-E75C-6FFB-2C6A-F23DAEA2C7E0}"/>
                  </a:ext>
                </a:extLst>
              </p:cNvPr>
              <p:cNvSpPr txBox="1"/>
              <p:nvPr/>
            </p:nvSpPr>
            <p:spPr>
              <a:xfrm>
                <a:off x="5635735" y="3053193"/>
                <a:ext cx="1348740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defRPr sz="2200" b="1"/>
                </a:pPr>
                <a:r>
                  <a:rPr lang="en-US" sz="1600" dirty="0"/>
                  <a:t>Retrieval</a:t>
                </a:r>
                <a:endParaRPr sz="16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775B53-5259-F77D-3730-A5C8580090BC}"/>
                  </a:ext>
                </a:extLst>
              </p:cNvPr>
              <p:cNvSpPr txBox="1"/>
              <p:nvPr/>
            </p:nvSpPr>
            <p:spPr>
              <a:xfrm>
                <a:off x="7866157" y="3426551"/>
                <a:ext cx="1290785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defRPr sz="2200" b="1"/>
                </a:pPr>
                <a:r>
                  <a:rPr lang="en-US" sz="1600" dirty="0"/>
                  <a:t>Prompting</a:t>
                </a:r>
                <a:endParaRPr sz="16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846E03F-502F-4255-2C9D-89AA728BD2CF}"/>
                  </a:ext>
                </a:extLst>
              </p:cNvPr>
              <p:cNvSpPr txBox="1"/>
              <p:nvPr/>
            </p:nvSpPr>
            <p:spPr>
              <a:xfrm>
                <a:off x="7835588" y="840213"/>
                <a:ext cx="1488003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defRPr sz="2200" b="1"/>
                </a:pPr>
                <a:r>
                  <a:rPr lang="en-US" sz="1600" dirty="0"/>
                  <a:t>LLM</a:t>
                </a:r>
                <a:endParaRPr sz="1600" dirty="0"/>
              </a:p>
            </p:txBody>
          </p:sp>
          <p:sp>
            <p:nvSpPr>
              <p:cNvPr id="45" name="Right Arrow 44">
                <a:extLst>
                  <a:ext uri="{FF2B5EF4-FFF2-40B4-BE49-F238E27FC236}">
                    <a16:creationId xmlns:a16="http://schemas.microsoft.com/office/drawing/2014/main" id="{A9E75B75-893C-648C-9894-3F213295343B}"/>
                  </a:ext>
                </a:extLst>
              </p:cNvPr>
              <p:cNvSpPr/>
              <p:nvPr/>
            </p:nvSpPr>
            <p:spPr>
              <a:xfrm rot="5400000">
                <a:off x="3678940" y="3054133"/>
                <a:ext cx="495743" cy="160886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D"/>
              </a:p>
            </p:txBody>
          </p:sp>
          <p:sp>
            <p:nvSpPr>
              <p:cNvPr id="46" name="Right Arrow 45">
                <a:extLst>
                  <a:ext uri="{FF2B5EF4-FFF2-40B4-BE49-F238E27FC236}">
                    <a16:creationId xmlns:a16="http://schemas.microsoft.com/office/drawing/2014/main" id="{0ED514F1-27CD-5A85-7071-6B3965058554}"/>
                  </a:ext>
                </a:extLst>
              </p:cNvPr>
              <p:cNvSpPr/>
              <p:nvPr/>
            </p:nvSpPr>
            <p:spPr>
              <a:xfrm>
                <a:off x="7257741" y="4033643"/>
                <a:ext cx="285784" cy="16816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D"/>
              </a:p>
            </p:txBody>
          </p:sp>
          <p:sp>
            <p:nvSpPr>
              <p:cNvPr id="48" name="Right Arrow 47">
                <a:extLst>
                  <a:ext uri="{FF2B5EF4-FFF2-40B4-BE49-F238E27FC236}">
                    <a16:creationId xmlns:a16="http://schemas.microsoft.com/office/drawing/2014/main" id="{F9DDB8AA-97AB-7BC2-4899-B7647B63F542}"/>
                  </a:ext>
                </a:extLst>
              </p:cNvPr>
              <p:cNvSpPr/>
              <p:nvPr/>
            </p:nvSpPr>
            <p:spPr>
              <a:xfrm>
                <a:off x="9536580" y="1833082"/>
                <a:ext cx="367900" cy="138593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D" dirty="0"/>
              </a:p>
            </p:txBody>
          </p:sp>
          <p:sp>
            <p:nvSpPr>
              <p:cNvPr id="54" name="Right Arrow 53">
                <a:extLst>
                  <a:ext uri="{FF2B5EF4-FFF2-40B4-BE49-F238E27FC236}">
                    <a16:creationId xmlns:a16="http://schemas.microsoft.com/office/drawing/2014/main" id="{1F45595E-377E-753C-7968-EDD3D9C775A7}"/>
                  </a:ext>
                </a:extLst>
              </p:cNvPr>
              <p:cNvSpPr/>
              <p:nvPr/>
            </p:nvSpPr>
            <p:spPr>
              <a:xfrm rot="16200000">
                <a:off x="8257475" y="3031046"/>
                <a:ext cx="495744" cy="14848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D"/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5B30D52D-8809-FB2F-66E6-00E70ED77733}"/>
                  </a:ext>
                </a:extLst>
              </p:cNvPr>
              <p:cNvGrpSpPr/>
              <p:nvPr/>
            </p:nvGrpSpPr>
            <p:grpSpPr>
              <a:xfrm>
                <a:off x="2911402" y="3427245"/>
                <a:ext cx="2030820" cy="1845486"/>
                <a:chOff x="1084521" y="3000430"/>
                <a:chExt cx="2030820" cy="1845486"/>
              </a:xfrm>
            </p:grpSpPr>
            <p:sp>
              <p:nvSpPr>
                <p:cNvPr id="55" name="Rounded Rectangle 54">
                  <a:extLst>
                    <a:ext uri="{FF2B5EF4-FFF2-40B4-BE49-F238E27FC236}">
                      <a16:creationId xmlns:a16="http://schemas.microsoft.com/office/drawing/2014/main" id="{25664968-69AD-5A6C-5EC2-29B9983FA64F}"/>
                    </a:ext>
                  </a:extLst>
                </p:cNvPr>
                <p:cNvSpPr/>
                <p:nvPr/>
              </p:nvSpPr>
              <p:spPr>
                <a:xfrm>
                  <a:off x="1084521" y="3160262"/>
                  <a:ext cx="2030820" cy="1685654"/>
                </a:xfrm>
                <a:prstGeom prst="roundRect">
                  <a:avLst/>
                </a:prstGeom>
                <a:noFill/>
                <a:ln w="22860">
                  <a:solidFill>
                    <a:srgbClr val="18181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000" b="0">
                      <a:solidFill>
                        <a:srgbClr val="181818"/>
                      </a:solidFill>
                    </a:defRPr>
                  </a:pPr>
                  <a:endParaRPr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46E5CD4-063B-3EE9-8E0A-6407F7928CC0}"/>
                    </a:ext>
                  </a:extLst>
                </p:cNvPr>
                <p:cNvSpPr/>
                <p:nvPr/>
              </p:nvSpPr>
              <p:spPr>
                <a:xfrm>
                  <a:off x="1341979" y="3515383"/>
                  <a:ext cx="1576809" cy="475488"/>
                </a:xfrm>
                <a:prstGeom prst="rect">
                  <a:avLst/>
                </a:prstGeom>
                <a:solidFill>
                  <a:srgbClr val="E9C7C7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/>
                    <a:t>BGE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39E3408-0000-7D8C-B883-2FED1DA146A9}"/>
                    </a:ext>
                  </a:extLst>
                </p:cNvPr>
                <p:cNvSpPr/>
                <p:nvPr/>
              </p:nvSpPr>
              <p:spPr>
                <a:xfrm>
                  <a:off x="1314980" y="4167270"/>
                  <a:ext cx="1589640" cy="475488"/>
                </a:xfrm>
                <a:prstGeom prst="rect">
                  <a:avLst/>
                </a:prstGeom>
                <a:solidFill>
                  <a:srgbClr val="F1DDD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700" b="0">
                      <a:solidFill>
                        <a:srgbClr val="181818"/>
                      </a:solidFill>
                    </a:defRPr>
                  </a:pPr>
                  <a:r>
                    <a:rPr dirty="0" err="1"/>
                    <a:t>MedEmbed</a:t>
                  </a:r>
                  <a:endParaRPr dirty="0"/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64D6F14-BC4E-B61C-0A08-EB4839F7AB21}"/>
                    </a:ext>
                  </a:extLst>
                </p:cNvPr>
                <p:cNvSpPr txBox="1"/>
                <p:nvPr/>
              </p:nvSpPr>
              <p:spPr>
                <a:xfrm>
                  <a:off x="1448069" y="3000430"/>
                  <a:ext cx="1348740" cy="33855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effectLst>
                  <a:outerShdw sx="1000" sy="1000" algn="ctr" rotWithShape="0">
                    <a:schemeClr val="bg1"/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algn="ctr">
                    <a:defRPr sz="2200" b="1"/>
                  </a:pPr>
                  <a:r>
                    <a:rPr sz="1600" dirty="0"/>
                    <a:t>Embedding</a:t>
                  </a:r>
                </a:p>
              </p:txBody>
            </p:sp>
          </p:grpSp>
          <p:sp>
            <p:nvSpPr>
              <p:cNvPr id="60" name="Right Arrow 59">
                <a:extLst>
                  <a:ext uri="{FF2B5EF4-FFF2-40B4-BE49-F238E27FC236}">
                    <a16:creationId xmlns:a16="http://schemas.microsoft.com/office/drawing/2014/main" id="{2F3F21DD-66C5-4753-A66A-4EFE7C22EBCE}"/>
                  </a:ext>
                </a:extLst>
              </p:cNvPr>
              <p:cNvSpPr/>
              <p:nvPr/>
            </p:nvSpPr>
            <p:spPr>
              <a:xfrm>
                <a:off x="5041200" y="4033643"/>
                <a:ext cx="333459" cy="16816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D"/>
              </a:p>
            </p:txBody>
          </p:sp>
          <p:sp>
            <p:nvSpPr>
              <p:cNvPr id="61" name="Right Arrow 60">
                <a:extLst>
                  <a:ext uri="{FF2B5EF4-FFF2-40B4-BE49-F238E27FC236}">
                    <a16:creationId xmlns:a16="http://schemas.microsoft.com/office/drawing/2014/main" id="{49BC5E9F-7AF2-6344-8F6F-215E0F2F34DB}"/>
                  </a:ext>
                </a:extLst>
              </p:cNvPr>
              <p:cNvSpPr/>
              <p:nvPr/>
            </p:nvSpPr>
            <p:spPr>
              <a:xfrm>
                <a:off x="2612789" y="1793561"/>
                <a:ext cx="367900" cy="138593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D" dirty="0"/>
              </a:p>
            </p:txBody>
          </p:sp>
        </p:grpSp>
        <p:sp>
          <p:nvSpPr>
            <p:cNvPr id="63" name="Magnetic Disk 62">
              <a:extLst>
                <a:ext uri="{FF2B5EF4-FFF2-40B4-BE49-F238E27FC236}">
                  <a16:creationId xmlns:a16="http://schemas.microsoft.com/office/drawing/2014/main" id="{85AD4202-5E9E-E4C7-E03A-17F2F2A8A733}"/>
                </a:ext>
              </a:extLst>
            </p:cNvPr>
            <p:cNvSpPr/>
            <p:nvPr/>
          </p:nvSpPr>
          <p:spPr>
            <a:xfrm>
              <a:off x="1280430" y="3724693"/>
              <a:ext cx="1155338" cy="910497"/>
            </a:xfrm>
            <a:prstGeom prst="flowChartMagneticDisk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BD" sz="1600" dirty="0"/>
                <a:t>Knowledge base</a:t>
              </a:r>
            </a:p>
          </p:txBody>
        </p:sp>
        <p:sp>
          <p:nvSpPr>
            <p:cNvPr id="64" name="Right Arrow 63">
              <a:extLst>
                <a:ext uri="{FF2B5EF4-FFF2-40B4-BE49-F238E27FC236}">
                  <a16:creationId xmlns:a16="http://schemas.microsoft.com/office/drawing/2014/main" id="{E0332933-6CA0-2717-556D-90FFF1296BEB}"/>
                </a:ext>
              </a:extLst>
            </p:cNvPr>
            <p:cNvSpPr/>
            <p:nvPr/>
          </p:nvSpPr>
          <p:spPr>
            <a:xfrm>
              <a:off x="2506855" y="4055882"/>
              <a:ext cx="333459" cy="16816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D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6087</TotalTime>
  <Words>83</Words>
  <Application>Microsoft Macintosh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Nusrat Sultana</cp:lastModifiedBy>
  <cp:revision>5</cp:revision>
  <cp:lastPrinted>2026-03-12T08:09:25Z</cp:lastPrinted>
  <dcterms:created xsi:type="dcterms:W3CDTF">2013-01-27T09:14:16Z</dcterms:created>
  <dcterms:modified xsi:type="dcterms:W3CDTF">2026-03-14T22:36:16Z</dcterms:modified>
  <cp:category/>
</cp:coreProperties>
</file>