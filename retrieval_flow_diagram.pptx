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142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247120" cy="457200"/>
          </a:xfrm>
          <a:prstGeom prst="rect">
            <a:avLst/>
          </a:prstGeom>
          <a:noFill/>
        </p:spPr>
        <p:txBody>
          <a:bodyPr wrap="none">
            <a:spAutoFit/>
          </a:bodyPr>
          <a:lstStyle/>
          <a:p>
            <a:pPr>
              <a:defRPr sz="2800" b="1">
                <a:solidFill>
                  <a:srgbClr val="141414"/>
                </a:solidFill>
              </a:defRPr>
            </a:pPr>
            <a:r>
              <a:t>RAG Retrieval-to-LLM Context Flow (Code-Verified)</a:t>
            </a:r>
          </a:p>
        </p:txBody>
      </p:sp>
      <p:sp>
        <p:nvSpPr>
          <p:cNvPr id="3" name="TextBox 2"/>
          <p:cNvSpPr txBox="1"/>
          <p:nvPr/>
        </p:nvSpPr>
        <p:spPr>
          <a:xfrm>
            <a:off x="457200" y="658368"/>
            <a:ext cx="11247120" cy="274320"/>
          </a:xfrm>
          <a:prstGeom prst="rect">
            <a:avLst/>
          </a:prstGeom>
          <a:noFill/>
        </p:spPr>
        <p:txBody>
          <a:bodyPr wrap="none">
            <a:spAutoFit/>
          </a:bodyPr>
          <a:lstStyle/>
          <a:p>
            <a:pPr>
              <a:defRPr sz="1400">
                <a:solidFill>
                  <a:srgbClr val="464646"/>
                </a:solidFill>
              </a:defRPr>
            </a:pPr>
            <a:r>
              <a:t>Key defaults: rerank_topk=150, max_passages=6, max_evidence_tokens=1200</a:t>
            </a:r>
          </a:p>
        </p:txBody>
      </p:sp>
      <p:sp>
        <p:nvSpPr>
          <p:cNvPr id="4" name="Rounded Rectangle 3"/>
          <p:cNvSpPr/>
          <p:nvPr/>
        </p:nvSpPr>
        <p:spPr>
          <a:xfrm>
            <a:off x="914400" y="1005840"/>
            <a:ext cx="10332720" cy="438912"/>
          </a:xfrm>
          <a:prstGeom prst="roundRect">
            <a:avLst/>
          </a:prstGeom>
          <a:solidFill>
            <a:srgbClr val="E9F5FF"/>
          </a:solidFill>
          <a:ln w="13970">
            <a:solidFill>
              <a:srgbClr val="6E82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b="0">
                <a:solidFill>
                  <a:srgbClr val="1E1E1E"/>
                </a:solidFill>
              </a:defRPr>
            </a:pPr>
            <a:r>
              <a:t>1) Query variants (base + optional reformulation/HyDE/option-aware)</a:t>
            </a:r>
          </a:p>
        </p:txBody>
      </p:sp>
      <p:sp>
        <p:nvSpPr>
          <p:cNvPr id="5" name="Down Arrow 4"/>
          <p:cNvSpPr/>
          <p:nvPr/>
        </p:nvSpPr>
        <p:spPr>
          <a:xfrm>
            <a:off x="5897880" y="1444752"/>
            <a:ext cx="365760" cy="118872"/>
          </a:xfrm>
          <a:prstGeom prst="down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14400" y="1563624"/>
            <a:ext cx="10332720" cy="438912"/>
          </a:xfrm>
          <a:prstGeom prst="roundRect">
            <a:avLst/>
          </a:prstGeom>
          <a:solidFill>
            <a:srgbClr val="E9F5FF"/>
          </a:solidFill>
          <a:ln w="13970">
            <a:solidFill>
              <a:srgbClr val="6E82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b="0">
                <a:solidFill>
                  <a:srgbClr val="1E1E1E"/>
                </a:solidFill>
              </a:defRPr>
            </a:pPr>
            <a:r>
              <a:rPr dirty="0"/>
              <a:t>2) Dense/BM25 retrieval per query variant</a:t>
            </a:r>
          </a:p>
        </p:txBody>
      </p:sp>
      <p:sp>
        <p:nvSpPr>
          <p:cNvPr id="7" name="Down Arrow 6"/>
          <p:cNvSpPr/>
          <p:nvPr/>
        </p:nvSpPr>
        <p:spPr>
          <a:xfrm>
            <a:off x="5897880" y="2002536"/>
            <a:ext cx="365760" cy="118872"/>
          </a:xfrm>
          <a:prstGeom prst="down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14400" y="2121408"/>
            <a:ext cx="10332720" cy="438912"/>
          </a:xfrm>
          <a:prstGeom prst="roundRect">
            <a:avLst/>
          </a:prstGeom>
          <a:solidFill>
            <a:srgbClr val="E9F5FF"/>
          </a:solidFill>
          <a:ln w="13970">
            <a:solidFill>
              <a:srgbClr val="6E82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b="0">
                <a:solidFill>
                  <a:srgbClr val="1E1E1E"/>
                </a:solidFill>
              </a:defRPr>
            </a:pPr>
            <a:r>
              <a:t>3) Fuse + rescore + threshold</a:t>
            </a:r>
          </a:p>
        </p:txBody>
      </p:sp>
      <p:sp>
        <p:nvSpPr>
          <p:cNvPr id="9" name="Down Arrow 8"/>
          <p:cNvSpPr/>
          <p:nvPr/>
        </p:nvSpPr>
        <p:spPr>
          <a:xfrm>
            <a:off x="5897880" y="2560320"/>
            <a:ext cx="365760" cy="118872"/>
          </a:xfrm>
          <a:prstGeom prst="down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14400" y="2679192"/>
            <a:ext cx="10332720" cy="438912"/>
          </a:xfrm>
          <a:prstGeom prst="roundRect">
            <a:avLst/>
          </a:prstGeom>
          <a:solidFill>
            <a:srgbClr val="D6ECFF"/>
          </a:solidFill>
          <a:ln w="13970">
            <a:solidFill>
              <a:srgbClr val="6E82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b="1">
                <a:solidFill>
                  <a:srgbClr val="1E1E1E"/>
                </a:solidFill>
              </a:defRPr>
            </a:pPr>
            <a:r>
              <a:t>4) Build candidate pool: max(k, rerank_topk, max_passages*3)\n   (typically 150)</a:t>
            </a:r>
          </a:p>
        </p:txBody>
      </p:sp>
      <p:sp>
        <p:nvSpPr>
          <p:cNvPr id="11" name="Down Arrow 10"/>
          <p:cNvSpPr/>
          <p:nvPr/>
        </p:nvSpPr>
        <p:spPr>
          <a:xfrm>
            <a:off x="5897880" y="3118104"/>
            <a:ext cx="365760" cy="118872"/>
          </a:xfrm>
          <a:prstGeom prst="down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14400" y="3237933"/>
            <a:ext cx="10332720" cy="438912"/>
          </a:xfrm>
          <a:prstGeom prst="roundRect">
            <a:avLst/>
          </a:prstGeom>
          <a:solidFill>
            <a:srgbClr val="E9F5FF"/>
          </a:solidFill>
          <a:ln w="13970">
            <a:solidFill>
              <a:srgbClr val="6E82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b="0">
                <a:solidFill>
                  <a:srgbClr val="1E1E1E"/>
                </a:solidFill>
              </a:defRPr>
            </a:pPr>
            <a:r>
              <a:rPr dirty="0"/>
              <a:t>5) Dedupe candidates by </a:t>
            </a:r>
            <a:r>
              <a:rPr dirty="0" err="1"/>
              <a:t>doc_id</a:t>
            </a:r>
            <a:endParaRPr dirty="0"/>
          </a:p>
        </p:txBody>
      </p:sp>
      <p:sp>
        <p:nvSpPr>
          <p:cNvPr id="13" name="Down Arrow 12"/>
          <p:cNvSpPr/>
          <p:nvPr/>
        </p:nvSpPr>
        <p:spPr>
          <a:xfrm>
            <a:off x="5897880" y="3675888"/>
            <a:ext cx="365760" cy="118872"/>
          </a:xfrm>
          <a:prstGeom prst="down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14400" y="3794760"/>
            <a:ext cx="10332720" cy="438912"/>
          </a:xfrm>
          <a:prstGeom prst="roundRect">
            <a:avLst/>
          </a:prstGeom>
          <a:solidFill>
            <a:srgbClr val="D6ECFF"/>
          </a:solidFill>
          <a:ln w="13970">
            <a:solidFill>
              <a:srgbClr val="6E82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b="1">
                <a:solidFill>
                  <a:srgbClr val="1E1E1E"/>
                </a:solidFill>
              </a:defRPr>
            </a:pPr>
            <a:r>
              <a:t>6) Cross-encoder rerank top min(rerank_topk, len(pool))\n   (up to 150)</a:t>
            </a:r>
          </a:p>
        </p:txBody>
      </p:sp>
      <p:sp>
        <p:nvSpPr>
          <p:cNvPr id="15" name="Down Arrow 14"/>
          <p:cNvSpPr/>
          <p:nvPr/>
        </p:nvSpPr>
        <p:spPr>
          <a:xfrm>
            <a:off x="5897880" y="4233672"/>
            <a:ext cx="365760" cy="118872"/>
          </a:xfrm>
          <a:prstGeom prst="down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14400" y="4352544"/>
            <a:ext cx="10332720" cy="438912"/>
          </a:xfrm>
          <a:prstGeom prst="roundRect">
            <a:avLst/>
          </a:prstGeom>
          <a:solidFill>
            <a:srgbClr val="FFF3D6"/>
          </a:solidFill>
          <a:ln w="13970">
            <a:solidFill>
              <a:srgbClr val="6E82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b="0">
                <a:solidFill>
                  <a:srgbClr val="1E1E1E"/>
                </a:solidFill>
              </a:defRPr>
            </a:pPr>
            <a:r>
              <a:t>7) Gate (CE-score or lexical fallback)</a:t>
            </a:r>
          </a:p>
        </p:txBody>
      </p:sp>
      <p:sp>
        <p:nvSpPr>
          <p:cNvPr id="17" name="Down Arrow 16"/>
          <p:cNvSpPr/>
          <p:nvPr/>
        </p:nvSpPr>
        <p:spPr>
          <a:xfrm>
            <a:off x="5897880" y="4791456"/>
            <a:ext cx="365760" cy="118872"/>
          </a:xfrm>
          <a:prstGeom prst="down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14400" y="4910328"/>
            <a:ext cx="10332720" cy="438912"/>
          </a:xfrm>
          <a:prstGeom prst="roundRect">
            <a:avLst/>
          </a:prstGeom>
          <a:solidFill>
            <a:srgbClr val="D6FFE4"/>
          </a:solidFill>
          <a:ln w="13970">
            <a:solidFill>
              <a:srgbClr val="6E82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b="1">
                <a:solidFill>
                  <a:srgbClr val="1E1E1E"/>
                </a:solidFill>
              </a:defRPr>
            </a:pPr>
            <a:r>
              <a:t>8) Trim to max_passages (6)</a:t>
            </a:r>
          </a:p>
        </p:txBody>
      </p:sp>
      <p:sp>
        <p:nvSpPr>
          <p:cNvPr id="19" name="Down Arrow 18"/>
          <p:cNvSpPr/>
          <p:nvPr/>
        </p:nvSpPr>
        <p:spPr>
          <a:xfrm>
            <a:off x="5897880" y="5349240"/>
            <a:ext cx="365760" cy="118872"/>
          </a:xfrm>
          <a:prstGeom prst="down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14400" y="5468112"/>
            <a:ext cx="10332720" cy="438912"/>
          </a:xfrm>
          <a:prstGeom prst="roundRect">
            <a:avLst/>
          </a:prstGeom>
          <a:solidFill>
            <a:srgbClr val="D6FFE4"/>
          </a:solidFill>
          <a:ln w="13970">
            <a:solidFill>
              <a:srgbClr val="6E82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b="1">
                <a:solidFill>
                  <a:srgbClr val="1E1E1E"/>
                </a:solidFill>
              </a:defRPr>
            </a:pPr>
            <a:r>
              <a:t>9) Pack to &lt;= 1200 tokens and send context to answer LLM</a:t>
            </a:r>
          </a:p>
        </p:txBody>
      </p:sp>
      <p:sp>
        <p:nvSpPr>
          <p:cNvPr id="21" name="Rounded Rectangle 20"/>
          <p:cNvSpPr/>
          <p:nvPr/>
        </p:nvSpPr>
        <p:spPr>
          <a:xfrm>
            <a:off x="822960" y="6355080"/>
            <a:ext cx="10515600" cy="320040"/>
          </a:xfrm>
          <a:prstGeom prst="roundRect">
            <a:avLst/>
          </a:prstGeom>
          <a:solidFill>
            <a:srgbClr val="FFEBEB"/>
          </a:solidFill>
          <a:ln>
            <a:solidFill>
              <a:srgbClr val="BE6464"/>
            </a:solidFill>
          </a:ln>
        </p:spPr>
        <p:style>
          <a:lnRef idx="1">
            <a:schemeClr val="accent1"/>
          </a:lnRef>
          <a:fillRef idx="3">
            <a:schemeClr val="accent1"/>
          </a:fillRef>
          <a:effectRef idx="2">
            <a:schemeClr val="accent1"/>
          </a:effectRef>
          <a:fontRef idx="minor">
            <a:schemeClr val="lt1"/>
          </a:fontRef>
        </p:style>
        <p:txBody>
          <a:bodyPr rtlCol="0" anchor="ctr"/>
          <a:lstStyle/>
          <a:p>
            <a:pPr>
              <a:defRPr sz="1200" b="1">
                <a:solidFill>
                  <a:srgbClr val="781E1E"/>
                </a:solidFill>
              </a:defRPr>
            </a:pPr>
            <a:r>
              <a:t>Note: No explicit "top 10 after rerank" step exists in this main batch path.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C87CC0F-E8A4-E90E-1FD6-6789DEB3677F}"/>
              </a:ext>
            </a:extLst>
          </p:cNvPr>
          <p:cNvGrpSpPr/>
          <p:nvPr/>
        </p:nvGrpSpPr>
        <p:grpSpPr>
          <a:xfrm>
            <a:off x="85060" y="388089"/>
            <a:ext cx="8973880" cy="6305106"/>
            <a:chOff x="85060" y="334926"/>
            <a:chExt cx="8973880" cy="6305106"/>
          </a:xfrm>
        </p:grpSpPr>
        <p:sp>
          <p:nvSpPr>
            <p:cNvPr id="2" name="Rounded Rectangle 1">
              <a:extLst>
                <a:ext uri="{FF2B5EF4-FFF2-40B4-BE49-F238E27FC236}">
                  <a16:creationId xmlns:a16="http://schemas.microsoft.com/office/drawing/2014/main" id="{BAD8C4A9-BE7A-438F-B4E8-D849B734EEDE}"/>
                </a:ext>
              </a:extLst>
            </p:cNvPr>
            <p:cNvSpPr/>
            <p:nvPr/>
          </p:nvSpPr>
          <p:spPr>
            <a:xfrm>
              <a:off x="85060" y="334926"/>
              <a:ext cx="4784651" cy="5305646"/>
            </a:xfrm>
            <a:prstGeom prst="roundRect">
              <a:avLst/>
            </a:prstGeom>
            <a:solidFill>
              <a:schemeClr val="accent3">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just"/>
              <a:r>
                <a:rPr lang="en-GB" sz="1400" b="1" dirty="0"/>
                <a:t>Query Reformulation Prompt:</a:t>
              </a:r>
            </a:p>
            <a:p>
              <a:pPr algn="just"/>
              <a:r>
                <a:rPr lang="en-GB" sz="1400" dirty="0"/>
                <a:t>You are a medical information retrieval expert. Rewrite the following clinical vignette into ONE optimized search query for retrieving relevant medical textbook passages.</a:t>
              </a:r>
            </a:p>
            <a:p>
              <a:pPr algn="just"/>
              <a:r>
                <a:rPr lang="en-GB" sz="1400" dirty="0"/>
                <a:t>Instructions:</a:t>
              </a:r>
            </a:p>
            <a:p>
              <a:pPr algn="just"/>
              <a:r>
                <a:rPr lang="en-GB" sz="1400" dirty="0"/>
                <a:t>- Remove narrative patient details that do not appear in textbooks</a:t>
              </a:r>
            </a:p>
            <a:p>
              <a:pPr algn="just"/>
              <a:r>
                <a:rPr lang="en-GB" sz="1400" dirty="0"/>
                <a:t>- Preserve clinically meaningful abstractions</a:t>
              </a:r>
            </a:p>
            <a:p>
              <a:pPr algn="just"/>
              <a:r>
                <a:rPr lang="en-GB" sz="1400" dirty="0"/>
                <a:t>- Convert ages and timelines into medical categories when relevant</a:t>
              </a:r>
            </a:p>
            <a:p>
              <a:pPr algn="just"/>
              <a:r>
                <a:rPr lang="en-GB" sz="1400" dirty="0"/>
                <a:t>- Focus on pathophysiology, anatomy, histology, or mechanism being tested</a:t>
              </a:r>
            </a:p>
            <a:p>
              <a:pPr algn="just"/>
              <a:r>
                <a:rPr lang="en-GB" sz="1400" dirty="0"/>
                <a:t>- Use formal medical terminology used in textbooks</a:t>
              </a:r>
            </a:p>
            <a:p>
              <a:pPr algn="just"/>
              <a:r>
                <a:rPr lang="en-GB" sz="1400" dirty="0"/>
                <a:t>- Avoid full sentences; use keyword-style phrasing</a:t>
              </a:r>
            </a:p>
            <a:p>
              <a:pPr algn="just"/>
              <a:r>
                <a:rPr lang="en-GB" sz="1400" dirty="0"/>
                <a:t>- Target 8–12 words (do not exceed 12)</a:t>
              </a:r>
            </a:p>
            <a:p>
              <a:pPr algn="just"/>
              <a:endParaRPr lang="en-GB" sz="1400" dirty="0"/>
            </a:p>
            <a:p>
              <a:pPr algn="just"/>
              <a:r>
                <a:rPr lang="en-GB" sz="1400" dirty="0"/>
                <a:t>Example:</a:t>
              </a:r>
            </a:p>
            <a:p>
              <a:pPr algn="just"/>
              <a:r>
                <a:rPr lang="en-GB" sz="1400" dirty="0"/>
                <a:t>Input: "A 17-year-old female develops pruritic wheals after peanut exposure..."</a:t>
              </a:r>
            </a:p>
            <a:p>
              <a:pPr algn="just"/>
              <a:r>
                <a:rPr lang="en-GB" sz="1400" dirty="0"/>
                <a:t>Output: "IgE mediated mast cell degranulation superficial dermis urticaria"</a:t>
              </a:r>
            </a:p>
            <a:p>
              <a:pPr algn="just"/>
              <a:endParaRPr lang="en-GB" sz="1400" dirty="0"/>
            </a:p>
            <a:p>
              <a:pPr algn="just"/>
              <a:r>
                <a:rPr lang="en-GB" sz="1400" dirty="0"/>
                <a:t>Now rewrite the following question:</a:t>
              </a:r>
              <a:endParaRPr lang="en-BD" sz="1400" dirty="0"/>
            </a:p>
          </p:txBody>
        </p:sp>
        <p:sp>
          <p:nvSpPr>
            <p:cNvPr id="3" name="Rounded Rectangle 2">
              <a:extLst>
                <a:ext uri="{FF2B5EF4-FFF2-40B4-BE49-F238E27FC236}">
                  <a16:creationId xmlns:a16="http://schemas.microsoft.com/office/drawing/2014/main" id="{C3361920-189A-1F98-7EFD-574DBB13876E}"/>
                </a:ext>
              </a:extLst>
            </p:cNvPr>
            <p:cNvSpPr/>
            <p:nvPr/>
          </p:nvSpPr>
          <p:spPr>
            <a:xfrm>
              <a:off x="5316279" y="414670"/>
              <a:ext cx="3742661" cy="5146158"/>
            </a:xfrm>
            <a:prstGeom prst="roundRect">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just"/>
              <a:r>
                <a:rPr lang="en-GB" sz="1400" b="1" dirty="0"/>
                <a:t>Original Query: </a:t>
              </a:r>
              <a:r>
                <a:rPr lang="en-GB" sz="1400" dirty="0"/>
                <a:t>"A 7-year-old boy is brought to his </a:t>
              </a:r>
              <a:r>
                <a:rPr lang="en-GB" sz="1400" dirty="0" err="1"/>
                <a:t>pediatrician’s</a:t>
              </a:r>
              <a:r>
                <a:rPr lang="en-GB" sz="1400" dirty="0"/>
                <a:t> office for a follow-up visit. He was diagnosed with asthma when he was 3 years old and has since been on treatment for the condition. He is currently on a </a:t>
              </a:r>
              <a:r>
                <a:rPr lang="el-GR" sz="1400" dirty="0"/>
                <a:t>β-</a:t>
              </a:r>
              <a:r>
                <a:rPr lang="en-GB" sz="1400" dirty="0"/>
                <a:t>agonist inhaler because of exacerbation of his symptoms. He has observed that his symptoms are more prominent in springtime, especially when the new flowers are blooming. His mother has a backyard garden and whenever he goes out to play there, he experiences chest tightness with associated shortness of breath. He has been ……. when exposed to an allergen. Which of the following mediators is described in this experimental study?"</a:t>
              </a:r>
              <a:endParaRPr lang="en-BD" sz="1400" dirty="0"/>
            </a:p>
          </p:txBody>
        </p:sp>
        <p:sp>
          <p:nvSpPr>
            <p:cNvPr id="4" name="Rectangle 3">
              <a:extLst>
                <a:ext uri="{FF2B5EF4-FFF2-40B4-BE49-F238E27FC236}">
                  <a16:creationId xmlns:a16="http://schemas.microsoft.com/office/drawing/2014/main" id="{F4FFAED7-55D6-98C4-772D-E01BA6BF8A66}"/>
                </a:ext>
              </a:extLst>
            </p:cNvPr>
            <p:cNvSpPr/>
            <p:nvPr/>
          </p:nvSpPr>
          <p:spPr>
            <a:xfrm>
              <a:off x="85060" y="6097771"/>
              <a:ext cx="8973880" cy="542261"/>
            </a:xfrm>
            <a:prstGeom prst="rect">
              <a:avLst/>
            </a:prstGeom>
            <a:solidFill>
              <a:schemeClr val="accent6">
                <a:lumMod val="40000"/>
                <a:lumOff val="6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1600" b="1" dirty="0"/>
                <a:t>Reformulated form: </a:t>
              </a:r>
              <a:r>
                <a:rPr lang="en-GB" sz="1600" dirty="0"/>
                <a:t>”allergic asthma pollen exposure Th2 IL-4 IgE class switching mediator”</a:t>
              </a:r>
              <a:endParaRPr lang="en-BD" sz="1600" dirty="0"/>
            </a:p>
          </p:txBody>
        </p:sp>
        <p:cxnSp>
          <p:nvCxnSpPr>
            <p:cNvPr id="7" name="Straight Connector 6">
              <a:extLst>
                <a:ext uri="{FF2B5EF4-FFF2-40B4-BE49-F238E27FC236}">
                  <a16:creationId xmlns:a16="http://schemas.microsoft.com/office/drawing/2014/main" id="{232A7A33-9B9B-D712-60C9-A3B0908C2C9F}"/>
                </a:ext>
              </a:extLst>
            </p:cNvPr>
            <p:cNvCxnSpPr>
              <a:stCxn id="2" idx="3"/>
              <a:endCxn id="3" idx="1"/>
            </p:cNvCxnSpPr>
            <p:nvPr/>
          </p:nvCxnSpPr>
          <p:spPr>
            <a:xfrm>
              <a:off x="4869711" y="2987749"/>
              <a:ext cx="446568" cy="0"/>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04E2B3B0-8000-B103-11C9-6E21931F51EC}"/>
                </a:ext>
              </a:extLst>
            </p:cNvPr>
            <p:cNvCxnSpPr/>
            <p:nvPr/>
          </p:nvCxnSpPr>
          <p:spPr>
            <a:xfrm>
              <a:off x="5092995" y="2987749"/>
              <a:ext cx="0" cy="31100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0783582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1415</TotalTime>
  <Words>428</Words>
  <Application>Microsoft Macintosh PowerPoint</Application>
  <PresentationFormat>On-screen Show (4:3)</PresentationFormat>
  <Paragraphs>30</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Nusrat Sultana</cp:lastModifiedBy>
  <cp:revision>2</cp:revision>
  <dcterms:created xsi:type="dcterms:W3CDTF">2013-01-27T09:14:16Z</dcterms:created>
  <dcterms:modified xsi:type="dcterms:W3CDTF">2026-03-15T17:41:00Z</dcterms:modified>
  <cp:category/>
</cp:coreProperties>
</file>